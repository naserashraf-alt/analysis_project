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" cy="3291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PEOPLE ANALYTICS &amp; WORKFORCE INTELLIGENCE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HR Workforce Analytics Report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Data Cleaning, Key Organizational Measures, Exploratory Findings &amp; Strategic Action Plan</a:t>
            </a:r>
          </a:p>
          <a:p>
            <a:pPr>
              <a:spcBef>
                <a:spcPts val="3000"/>
              </a:spcBef>
              <a:defRPr sz="1100">
                <a:solidFill>
                  <a:srgbClr val="94A3B8"/>
                </a:solidFill>
              </a:defRPr>
            </a:pPr>
            <a:r>
              <a:t>Prepared by: People Analytics Team  |  Dataset: 19,600 Workforce Records (EGP 7.2B Payroll)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CONTEXT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Overview &amp; Analytical Methodology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Understanding our multi-regional workforce structure and analysis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1089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Dataset &amp;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Analyzed 19,600 employee profiles across 10 operational departments.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Regional coverage across Egypt (Cairo, Alex, Giza, Mansoura), KSA, UAE, &amp; Remote.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Total annual payroll footprint of EGP 7.20 Billion.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10896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Data Quality &amp; Cleansing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Resolved non-numeric ID anomalies, standardized casing and name artifacts.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Harmonized dates, categories, job titles, and standardized 1-10 satisfaction scores.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Imputed missing features using robust department-level median benchmarks.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10896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Strategic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Evaluate compensation equity and payroll concentration across seniority tiers.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Diagnose critical turnover drivers and identify departmental retention risks.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• Deliver a data-backed 4-Pillar Action Plan for executive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DIRECT MEASURES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Core Workforce Key Performance Indicators (KPIs)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Five foundational baseline figures defining our organizational scale and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74519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926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19,600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Total Workforce Headcount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Distributed across 4 regional hubs + 14.5% Remote footprint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874519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28800"/>
            <a:ext cx="2926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A5E9"/>
                </a:solidFill>
              </a:defRPr>
            </a:pPr>
            <a:r>
              <a:t>7.20B EGP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Total Annual Payroll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Annual human capital compensation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59" y="1874519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926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367,250 EGP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Average Annual Salary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Median salary: 256,800 EGP (Right-skewed by Senior/Exec roles)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2888" y="406908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5768" y="429768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4251960"/>
            <a:ext cx="2926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9E0B"/>
                </a:solidFill>
              </a:defRPr>
            </a:pPr>
            <a:r>
              <a:t>12.2%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Resignation Turnover Rate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Voluntary exits (Overall combined attrition stands at 16.1%)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406908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4297680"/>
            <a:ext cx="7315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4251960"/>
            <a:ext cx="2926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</a:defRPr>
            </a:pPr>
            <a:r>
              <a:t>2.86 Years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Average Resignation Tenure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Critical departure window compared to 5.78 yrs active tenure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WORKFORCE DEMOGRAPHICS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Chart 1: Regional Workforce Distribution &amp; Remote Footprint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Analysis of employee geographic concentration across national and distributed hubs</a:t>
            </a:r>
          </a:p>
        </p:txBody>
      </p:sp>
      <p:pic>
        <p:nvPicPr>
          <p:cNvPr id="4" name="Picture 3" descr="chart1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45920"/>
            <a:ext cx="4572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Geographic Distribution Analysis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Egypt represents the anchor operational market, hosting the vast majority of our multi-city staff (Cairo, Alexandria, Giza, Mansoura).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 healthy 14.5% remote workforce indicates strong adoption of distributed talent models.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Regional hubs in Saudi Arabia (Riyadh) and UAE (Dubai) provide strategic expansion bases in high-growth GCC markets.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1148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4983480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📌 Key Executive Takeaway: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Scaling remote talent from 14.5% toward 25% will allow access to broader MENA talent pools while optimizing physical real-estate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DIVERSITY &amp; INCLUSION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Chart 2: Workforce Gender Representation &amp; Leadership Equity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Evaluating gender balance and female leadership participation across the organization</a:t>
            </a:r>
          </a:p>
        </p:txBody>
      </p:sp>
      <p:pic>
        <p:nvPicPr>
          <p:cNvPr id="4" name="Picture 3" descr="chart2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45920"/>
            <a:ext cx="4572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Diversity &amp; Representation Findings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Overall workforce composition stands at ~55% Male, ~34% Female, and ~11% Unspecified.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Female representation in leadership roles (34.2%) mirrors overall female workforce participation (34.5%).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Demonstrates healthy organic progression without systemic glass ceilings in promotion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1148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4983480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📌 Key Executive Takeaway: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Female leadership participation matches general workforce share perfectly (34.2% vs 34.5%), reflecting merit-based leadership pathways.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RECRUITMENT &amp; GROWTH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Chart 3: Longitudinal Hiring Trends &amp; Momentum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Quarterly recruitment volume tracking organizational scaling patterns over time</a:t>
            </a:r>
          </a:p>
        </p:txBody>
      </p:sp>
      <p:pic>
        <p:nvPicPr>
          <p:cNvPr id="4" name="Picture 3" descr="chart3_h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45920"/>
            <a:ext cx="4572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Talent Acquisition Trends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Continuous hiring momentum reflects steady organizational expansion across technical and operational domains.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Recruitment peaks correspond with major regional market entries and departmental expansions.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Highlights the necessity for scalable, automated onboarding pipelines to maintain high new-hire satisfaction.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1148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4983480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📌 Key Executive Takeaway: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Establishing standardized onboarding cohorts during peak quarters will shorten time-to-productivity for new hires.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FINANCIAL &amp; PAYROLL ALLOCATION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Chart 4: Total Annual Payroll Spend by Department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Evaluating budget concentration across core business functions (Million EGP)</a:t>
            </a:r>
          </a:p>
        </p:txBody>
      </p:sp>
      <p:pic>
        <p:nvPicPr>
          <p:cNvPr id="4" name="Picture 3" descr="chart4_pay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45920"/>
            <a:ext cx="4572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Payroll Allocation Insights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Engineering (1.66B EGP) and Operations (834M EGP) represent the largest payroll budget commitments.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Customer Support maintains a large headcount (3,650 employees) but lower aggregate spend (1.04B EGP) due to entry-level wage bands.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IT and Finance demonstrate high compensation density per employee.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1148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4983480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📌 Key Executive Takeaway: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Engineering and IT account for over 30% of total payroll; protecting technical talent through retention packages is vital.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COMPENSATION &amp; SENIORITY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Chart 5: Compensation Progression Across Seniority Tiers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Analyzing salary scaling from Junior contributors to Executive Managers</a:t>
            </a:r>
          </a:p>
        </p:txBody>
      </p:sp>
      <p:pic>
        <p:nvPicPr>
          <p:cNvPr id="4" name="Picture 3" descr="chart5_seniority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45920"/>
            <a:ext cx="4572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Career Tier Compensation Structure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Junior average compensation starts at ~190K EGP, progressing to ~290K for Mid-Level and ~485K for Senior professionals.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Substantial compensation inflection at Lead (~665K) and Manager (~800K) levels.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Reflects structured pay bands that reward strategic leadership responsibility and tenure.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1148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4983480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📌 Key Executive Takeaway: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The 67% jump from Mid-Level to Senior is a key motivator; formalizing mid-career promotion milestones prevents premature departures.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RETENTION &amp; TURNOVER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Chart 6: Employee Attrition Rate by Department (%)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Identifying high-turnover hotspots and retention vulnerability areas</a:t>
            </a:r>
          </a:p>
        </p:txBody>
      </p:sp>
      <p:pic>
        <p:nvPicPr>
          <p:cNvPr id="4" name="Picture 3" descr="chart6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45920"/>
            <a:ext cx="4572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Departmental Turnover Diagnosis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Customer Support exhibits the highest attrition rate at 20.1%, significantly outpacing the corporate average (16.1%).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HR (17.6%) and Marketing (16.2%) represent secondary retention risk centers.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Engineering (15.0%) and Operations (14.4%) demonstrate the strongest retention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1148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4983480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📌 Key Executive Takeaway: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Customer Support's 20.1% attrition is directly linked to lower pay bands (284K avg); adjusting entry compensation will curb recruitment churn.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ORGANIZATIONAL HEALTH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Chart 7: Department Performance vs. Satisfaction Quadrant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Mapping workforce morale against performance ratings (Bubble size = Headcount)</a:t>
            </a:r>
          </a:p>
        </p:txBody>
      </p:sp>
      <p:pic>
        <p:nvPicPr>
          <p:cNvPr id="4" name="Picture 3" descr="chart7_sa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45920"/>
            <a:ext cx="4572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Departmental Health Matrix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Employee performance is exceptionally stable across all business units (averaging 3.30 to 3.35 out of 5).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Marketing (6.81) and Sales (6.79) lead the organization in overall employee sentiment and morale.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Legal (6.66) and HR (6.67) record lower satisfaction, indicating high administrative workload and burnout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1148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4983480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📌 Key Executive Takeaway: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Deploying workload rebalancing and pulse surveys in HR and Legal can raise satisfaction scores toward top-performing benchmarks.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TENURE &amp; FLIGHT RISK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Chart 8: Average Tenure Analysis: The 2.86-Year Flight Risk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Comparing years of service across employment statuses to identify departure windows</a:t>
            </a:r>
          </a:p>
        </p:txBody>
      </p:sp>
      <p:pic>
        <p:nvPicPr>
          <p:cNvPr id="4" name="Picture 3" descr="chart8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45920"/>
            <a:ext cx="4572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82880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Critical Flight-Risk Window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Departing employees (Resigned) average 2.86 years of service, compared to 5.78 years for active retained staff.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Identifies the 'Year 3 Cliff': employees who reach 2.5–3 years without clear promotion pathways seek external opportunities.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Retaining employees past year 3 significantly boosts long-term organizational tenure.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11480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4983480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📌 Key Executive Takeaway: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Intervening at the 24-month mark with career reviews and salary adjustments can capture high-flight-risk talent before the 3-year threshold.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STRATEGIC ROADMAP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Outro: 4-Pillar HR Action Plan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Actionable initiatives to optimize retention, pay equity, and organizational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73152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Pillar 1: Targeted Compensation Restructure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Benchmark Customer Support compensation against industry standards.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Uplift entry/mid support pay bands to curb the 20.1% attrition rate.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Reduce high onboarding and replacement recruitment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82880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783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Pillar 2: Mitigate the 'Year 3 Cliff'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Institute mandatory 24-month career progression &amp; promotion reviews.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Create structured lateral and technical growth tracks.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Proactively re-engage high-performing talent before the 2.8-year departure threshold.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29768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Pillar 3: Scale Distributed Remote Model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Expand remote talent share from 14.5% toward 25%.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Access top-tier regional talent across MENA without physical office overhead.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Implement unified digital collaboration &amp; performance frameworks.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429768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42519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Pillar 4: Retention &amp; Wellbeing Audits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Deploy quarterly pulse surveys in lower-satisfaction departments (Legal, HR).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Implement workload rebalancing and automation to reduce burnout.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Protect high-value engineering knowledge through structured retention incentives.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000">
                <a:solidFill>
                  <a:srgbClr val="0EA5E9"/>
                </a:solidFill>
              </a:defRPr>
            </a:pPr>
            <a:r>
              <a:t>Questions &amp; Executive Discussion</a:t>
            </a:r>
          </a:p>
          <a:p>
            <a:pPr algn="ctr">
              <a:spcBef>
                <a:spcPts val="2000"/>
              </a:spcBef>
              <a:defRPr sz="1200">
                <a:solidFill>
                  <a:srgbClr val="94A3B8"/>
                </a:solidFill>
              </a:defRPr>
            </a:pPr>
            <a:r>
              <a:t>HR Workforce Analytics &amp; Strategic Recommendations  |  People Analytics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